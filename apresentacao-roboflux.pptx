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C3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5F6E74"/>
                </a:solidFill>
                <a:latin typeface="Aptos"/>
              </a:rPr>
              <a:t>RoboFlux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4241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273138"/>
                </a:solidFill>
                <a:latin typeface="Aptos"/>
              </a:rPr>
              <a:t>Reactive AGV Path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0">
                <a:solidFill>
                  <a:srgbClr val="5F6E74"/>
                </a:solidFill>
                <a:latin typeface="Aptos"/>
              </a:rPr>
              <a:t>A web project that connects structured programming with Robotics and Industrial Automation.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931920"/>
            <a:ext cx="3749039" cy="502920"/>
          </a:xfrm>
          <a:prstGeom prst="roundRect">
            <a:avLst/>
          </a:prstGeom>
          <a:solidFill>
            <a:srgbClr val="DACBB8"/>
          </a:solidFill>
          <a:ln>
            <a:solidFill>
              <a:srgbClr val="DA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73138"/>
                </a:solidFill>
                <a:latin typeface="Aptos"/>
              </a:rPr>
              <a:t>Robotics · Automation ·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F6E74"/>
                </a:solidFill>
                <a:latin typeface="Aptos"/>
              </a:rPr>
              <a:t>https://roboflux-robotica.pages.dev/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E74"/>
                </a:solidFill>
                <a:latin typeface="Aptos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73138"/>
                </a:solidFill>
                <a:latin typeface="Aptos"/>
              </a:rP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F6E74"/>
                </a:solidFill>
                <a:latin typeface="Aptos"/>
              </a:rPr>
              <a:t>The project solves a small but realistic automation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73138"/>
                </a:solidFill>
                <a:latin typeface="Aptos"/>
              </a:defRPr>
            </a:pPr>
            <a:r>
              <a:t>Build an interactive web application related to the course area.</a:t>
            </a:r>
          </a:p>
          <a:p>
            <a:pPr>
              <a:spcAft>
                <a:spcPts val="800"/>
              </a:spcAft>
              <a:defRPr sz="2200">
                <a:solidFill>
                  <a:srgbClr val="273138"/>
                </a:solidFill>
                <a:latin typeface="Aptos"/>
              </a:defRPr>
            </a:pPr>
            <a:r>
              <a:t>Use programming fundamentals: variables, conditionals, loops, functions and DOM manipulation.</a:t>
            </a:r>
          </a:p>
          <a:p>
            <a:pPr>
              <a:spcAft>
                <a:spcPts val="800"/>
              </a:spcAft>
              <a:defRPr sz="2200">
                <a:solidFill>
                  <a:srgbClr val="273138"/>
                </a:solidFill>
                <a:latin typeface="Aptos"/>
              </a:defRPr>
            </a:pPr>
            <a:r>
              <a:t>Simulate how an AGV calculates a safe route inside a factory floor.</a:t>
            </a:r>
          </a:p>
          <a:p>
            <a:pPr>
              <a:spcAft>
                <a:spcPts val="800"/>
              </a:spcAft>
              <a:defRPr sz="2200">
                <a:solidFill>
                  <a:srgbClr val="273138"/>
                </a:solidFill>
                <a:latin typeface="Aptos"/>
              </a:defRPr>
            </a:pPr>
            <a:r>
              <a:t>Explain the logic clearly enough to present it, not just show the final page.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5349240"/>
            <a:ext cx="6583680" cy="502920"/>
          </a:xfrm>
          <a:prstGeom prst="roundRect">
            <a:avLst/>
          </a:prstGeom>
          <a:solidFill>
            <a:srgbClr val="B8C398"/>
          </a:solidFill>
          <a:ln>
            <a:solidFill>
              <a:srgbClr val="B8C3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73138"/>
                </a:solidFill>
                <a:latin typeface="Aptos"/>
              </a:rPr>
              <a:t>Key idea: code is used to explain a real industrial process.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E74"/>
                </a:solidFill>
                <a:latin typeface="Aptos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73138"/>
                </a:solidFill>
                <a:latin typeface="Aptos"/>
              </a:rPr>
              <a:t>Why this fits Robotics and Industrial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F6E74"/>
                </a:solidFill>
                <a:latin typeface="Aptos"/>
              </a:rPr>
              <a:t>Industrial environments change. A robot must react.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73138"/>
                </a:solidFill>
                <a:latin typeface="Aptos"/>
              </a:defRPr>
            </a:pPr>
            <a:r>
              <a:t>A factory floor can contain machines, pallets, blocked zones and moving obstacles.</a:t>
            </a:r>
          </a:p>
          <a:p>
            <a:pPr>
              <a:spcAft>
                <a:spcPts val="800"/>
              </a:spcAft>
              <a:defRPr sz="2200">
                <a:solidFill>
                  <a:srgbClr val="273138"/>
                </a:solidFill>
                <a:latin typeface="Aptos"/>
              </a:defRPr>
            </a:pPr>
            <a:r>
              <a:t>An AGV should not depend on one fixed path only.</a:t>
            </a:r>
          </a:p>
          <a:p>
            <a:pPr>
              <a:spcAft>
                <a:spcPts val="800"/>
              </a:spcAft>
              <a:defRPr sz="2200">
                <a:solidFill>
                  <a:srgbClr val="273138"/>
                </a:solidFill>
                <a:latin typeface="Aptos"/>
              </a:defRPr>
            </a:pPr>
            <a:r>
              <a:t>The map represents a simplified factory floor using a 10x10 grid.</a:t>
            </a:r>
          </a:p>
          <a:p>
            <a:pPr>
              <a:spcAft>
                <a:spcPts val="800"/>
              </a:spcAft>
              <a:defRPr sz="2200">
                <a:solidFill>
                  <a:srgbClr val="273138"/>
                </a:solidFill>
                <a:latin typeface="Aptos"/>
              </a:defRPr>
            </a:pPr>
            <a:r>
              <a:t>The algorithm recalculates the route when the map changes.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737360"/>
            <a:ext cx="347472" cy="347472"/>
          </a:xfrm>
          <a:prstGeom prst="roundRect">
            <a:avLst/>
          </a:prstGeom>
          <a:solidFill>
            <a:srgbClr val="5F6E74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68512" y="1737360"/>
            <a:ext cx="34747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07424" y="1737360"/>
            <a:ext cx="34747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46336" y="1737360"/>
            <a:ext cx="34747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85248" y="1737360"/>
            <a:ext cx="347472" cy="347472"/>
          </a:xfrm>
          <a:prstGeom prst="roundRect">
            <a:avLst/>
          </a:prstGeom>
          <a:solidFill>
            <a:srgbClr val="5F6E74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24160" y="1737360"/>
            <a:ext cx="347472" cy="347472"/>
          </a:xfrm>
          <a:prstGeom prst="roundRect">
            <a:avLst/>
          </a:prstGeom>
          <a:solidFill>
            <a:srgbClr val="DACBB8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2176272"/>
            <a:ext cx="34747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68512" y="2176272"/>
            <a:ext cx="34747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07424" y="2176272"/>
            <a:ext cx="34747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46336" y="2176272"/>
            <a:ext cx="347472" cy="347472"/>
          </a:xfrm>
          <a:prstGeom prst="roundRect">
            <a:avLst/>
          </a:prstGeom>
          <a:solidFill>
            <a:srgbClr val="5F6E74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85248" y="2176272"/>
            <a:ext cx="34747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424160" y="2176272"/>
            <a:ext cx="34747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2615184"/>
            <a:ext cx="34747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68512" y="2615184"/>
            <a:ext cx="34747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07424" y="2615184"/>
            <a:ext cx="347472" cy="347472"/>
          </a:xfrm>
          <a:prstGeom prst="roundRect">
            <a:avLst/>
          </a:prstGeom>
          <a:solidFill>
            <a:srgbClr val="5F6E74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46336" y="2615184"/>
            <a:ext cx="34747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85248" y="2615184"/>
            <a:ext cx="34747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424160" y="2615184"/>
            <a:ext cx="34747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3054096"/>
            <a:ext cx="347472" cy="347472"/>
          </a:xfrm>
          <a:prstGeom prst="roundRect">
            <a:avLst/>
          </a:prstGeom>
          <a:solidFill>
            <a:srgbClr val="B8C398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68512" y="3054096"/>
            <a:ext cx="347472" cy="347472"/>
          </a:xfrm>
          <a:prstGeom prst="roundRect">
            <a:avLst/>
          </a:prstGeom>
          <a:solidFill>
            <a:srgbClr val="5F6E74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07424" y="3054096"/>
            <a:ext cx="34747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46336" y="3054096"/>
            <a:ext cx="34747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985248" y="3054096"/>
            <a:ext cx="34747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424160" y="3054096"/>
            <a:ext cx="347472" cy="347472"/>
          </a:xfrm>
          <a:prstGeom prst="roundRect">
            <a:avLst/>
          </a:prstGeom>
          <a:solidFill>
            <a:srgbClr val="5F6E74"/>
          </a:solidFill>
          <a:ln>
            <a:solidFill>
              <a:srgbClr val="F6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8404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5F6E74"/>
                </a:solidFill>
                <a:latin typeface="Aptos"/>
              </a:rPr>
              <a:t>Simplified AGV grid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E74"/>
                </a:solidFill>
                <a:latin typeface="Aptos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73138"/>
                </a:solidFill>
                <a:latin typeface="Aptos"/>
              </a:rPr>
              <a:t>How the user interacts with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79552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73138"/>
                </a:solidFill>
                <a:latin typeface="Aptos"/>
              </a:defRPr>
            </a:pPr>
            <a:r>
              <a:t>Open the RoboFlux website.</a:t>
            </a:r>
          </a:p>
          <a:p>
            <a:pPr>
              <a:spcAft>
                <a:spcPts val="800"/>
              </a:spcAft>
              <a:defRPr sz="2200">
                <a:solidFill>
                  <a:srgbClr val="273138"/>
                </a:solidFill>
                <a:latin typeface="Aptos"/>
              </a:defRPr>
            </a:pPr>
            <a:r>
              <a:t>Look at the AGV grid simulation.</a:t>
            </a:r>
          </a:p>
          <a:p>
            <a:pPr>
              <a:spcAft>
                <a:spcPts val="800"/>
              </a:spcAft>
              <a:defRPr sz="2200">
                <a:solidFill>
                  <a:srgbClr val="273138"/>
                </a:solidFill>
                <a:latin typeface="Aptos"/>
              </a:defRPr>
            </a:pPr>
            <a:r>
              <a:t>Click “Generate new map” to create a different valid factory layout.</a:t>
            </a:r>
          </a:p>
          <a:p>
            <a:pPr>
              <a:spcAft>
                <a:spcPts val="800"/>
              </a:spcAft>
              <a:defRPr sz="2200">
                <a:solidFill>
                  <a:srgbClr val="273138"/>
                </a:solidFill>
                <a:latin typeface="Aptos"/>
              </a:defRPr>
            </a:pPr>
            <a:r>
              <a:t>Click “Run algorithm” to watch A* analyse cells and find the route.</a:t>
            </a:r>
          </a:p>
          <a:p>
            <a:pPr>
              <a:spcAft>
                <a:spcPts val="800"/>
              </a:spcAft>
              <a:defRPr sz="2200">
                <a:solidFill>
                  <a:srgbClr val="273138"/>
                </a:solidFill>
                <a:latin typeface="Aptos"/>
              </a:defRPr>
            </a:pPr>
            <a:r>
              <a:t>Read the explanation sections to understand what is happening.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5532120"/>
            <a:ext cx="5029200" cy="502920"/>
          </a:xfrm>
          <a:prstGeom prst="roundRect">
            <a:avLst/>
          </a:prstGeom>
          <a:solidFill>
            <a:srgbClr val="DACBB8"/>
          </a:solidFill>
          <a:ln>
            <a:solidFill>
              <a:srgbClr val="DA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73138"/>
                </a:solidFill>
                <a:latin typeface="Aptos"/>
              </a:rPr>
              <a:t>The page is interactive, not just informational.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E74"/>
                </a:solidFill>
                <a:latin typeface="Aptos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73138"/>
                </a:solidFill>
                <a:latin typeface="Aptos"/>
              </a:rPr>
              <a:t>The A*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F6E74"/>
                </a:solidFill>
                <a:latin typeface="Aptos"/>
              </a:rPr>
              <a:t>A* finds a path by balancing real cost and estimated distance.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3840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273138"/>
                </a:solidFill>
                <a:latin typeface="Aptos"/>
              </a:rPr>
              <a:t>f = g +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88920"/>
            <a:ext cx="6126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73138"/>
                </a:solidFill>
                <a:latin typeface="Aptos"/>
              </a:defRPr>
            </a:pPr>
            <a:r>
              <a:t>g = cost already travelled</a:t>
            </a:r>
          </a:p>
          <a:p>
            <a:pPr>
              <a:spcAft>
                <a:spcPts val="800"/>
              </a:spcAft>
              <a:defRPr sz="2100">
                <a:solidFill>
                  <a:srgbClr val="273138"/>
                </a:solidFill>
                <a:latin typeface="Aptos"/>
              </a:defRPr>
            </a:pPr>
            <a:r>
              <a:t>h = estimated distance to the destination</a:t>
            </a:r>
          </a:p>
          <a:p>
            <a:pPr>
              <a:spcAft>
                <a:spcPts val="800"/>
              </a:spcAft>
              <a:defRPr sz="2100">
                <a:solidFill>
                  <a:srgbClr val="273138"/>
                </a:solidFill>
                <a:latin typeface="Aptos"/>
              </a:defRPr>
            </a:pPr>
            <a:r>
              <a:t>f = total priority used to choose the next cell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9164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5F6E74"/>
                </a:solidFill>
                <a:latin typeface="Aptos"/>
              </a:rPr>
              <a:t>Simple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14884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73138"/>
                </a:solidFill>
                <a:latin typeface="Aptos"/>
              </a:defRPr>
            </a:pPr>
            <a:r>
              <a:t>The AGV looks at nearby cells.</a:t>
            </a:r>
          </a:p>
          <a:p>
            <a:pPr>
              <a:spcAft>
                <a:spcPts val="800"/>
              </a:spcAft>
              <a:defRPr sz="2000">
                <a:solidFill>
                  <a:srgbClr val="273138"/>
                </a:solidFill>
                <a:latin typeface="Aptos"/>
              </a:defRPr>
            </a:pPr>
            <a:r>
              <a:t>It avoids blocked cells.</a:t>
            </a:r>
          </a:p>
          <a:p>
            <a:pPr>
              <a:spcAft>
                <a:spcPts val="800"/>
              </a:spcAft>
              <a:defRPr sz="2000">
                <a:solidFill>
                  <a:srgbClr val="273138"/>
                </a:solidFill>
                <a:latin typeface="Aptos"/>
              </a:defRPr>
            </a:pPr>
            <a:r>
              <a:t>It chooses the most promising option.</a:t>
            </a:r>
          </a:p>
          <a:p>
            <a:pPr>
              <a:spcAft>
                <a:spcPts val="800"/>
              </a:spcAft>
              <a:defRPr sz="2000">
                <a:solidFill>
                  <a:srgbClr val="273138"/>
                </a:solidFill>
                <a:latin typeface="Aptos"/>
              </a:defRPr>
            </a:pPr>
            <a:r>
              <a:t>It repeats until it reaches the destination.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E74"/>
                </a:solidFill>
                <a:latin typeface="Aptos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73138"/>
                </a:solidFill>
                <a:latin typeface="Aptos"/>
              </a:rPr>
              <a:t>Controlled randomness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F6E74"/>
                </a:solidFill>
                <a:latin typeface="Aptos"/>
              </a:rPr>
              <a:t>Random does not mean chaotic.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7772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73138"/>
                </a:solidFill>
                <a:latin typeface="Aptos"/>
              </a:defRPr>
            </a:pPr>
            <a:r>
              <a:t>The map generator creates random obstacles.</a:t>
            </a:r>
          </a:p>
          <a:p>
            <a:pPr>
              <a:spcAft>
                <a:spcPts val="800"/>
              </a:spcAft>
              <a:defRPr sz="2200">
                <a:solidFill>
                  <a:srgbClr val="273138"/>
                </a:solidFill>
                <a:latin typeface="Aptos"/>
              </a:defRPr>
            </a:pPr>
            <a:r>
              <a:t>Before showing the map, the system checks if a route still exists.</a:t>
            </a:r>
          </a:p>
          <a:p>
            <a:pPr>
              <a:spcAft>
                <a:spcPts val="800"/>
              </a:spcAft>
              <a:defRPr sz="2200">
                <a:solidFill>
                  <a:srgbClr val="273138"/>
                </a:solidFill>
                <a:latin typeface="Aptos"/>
              </a:defRPr>
            </a:pPr>
            <a:r>
              <a:t>If the map is impossible, it tries again.</a:t>
            </a:r>
          </a:p>
          <a:p>
            <a:pPr>
              <a:spcAft>
                <a:spcPts val="800"/>
              </a:spcAft>
              <a:defRPr sz="2200">
                <a:solidFill>
                  <a:srgbClr val="273138"/>
                </a:solidFill>
                <a:latin typeface="Aptos"/>
              </a:defRPr>
            </a:pPr>
            <a:r>
              <a:t>This makes the project dynamic while keeping the simulation useful.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5074920"/>
            <a:ext cx="5394960" cy="502920"/>
          </a:xfrm>
          <a:prstGeom prst="roundRect">
            <a:avLst/>
          </a:prstGeom>
          <a:solidFill>
            <a:srgbClr val="B8C398"/>
          </a:solidFill>
          <a:ln>
            <a:solidFill>
              <a:srgbClr val="B8C3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73138"/>
                </a:solidFill>
                <a:latin typeface="Aptos"/>
              </a:rPr>
              <a:t>Dynamic + valid = better learning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E74"/>
                </a:solidFill>
                <a:latin typeface="Aptos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73138"/>
                </a:solidFill>
                <a:latin typeface="Aptos"/>
              </a:rPr>
              <a:t>Technologies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1732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C3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81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73138"/>
                </a:solidFill>
                <a:latin typeface="Aptos"/>
              </a:rPr>
              <a:t>Astro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F6E74"/>
                </a:solidFill>
                <a:latin typeface="Aptos"/>
              </a:rPr>
              <a:t>component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79" y="141732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C3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79" y="1581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73138"/>
                </a:solidFill>
                <a:latin typeface="Aptos"/>
              </a:rPr>
              <a:t>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9" y="192024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F6E74"/>
                </a:solidFill>
                <a:latin typeface="Aptos"/>
              </a:rPr>
              <a:t>page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4320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C3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077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73138"/>
                </a:solidFill>
                <a:latin typeface="Aptos"/>
              </a:rPr>
              <a:t>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F6E74"/>
                </a:solidFill>
                <a:latin typeface="Aptos"/>
              </a:rPr>
              <a:t>custom visual states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274320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C3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29077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73138"/>
                </a:solidFill>
                <a:latin typeface="Aptos"/>
              </a:rPr>
              <a:t>Tailwind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324612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F6E74"/>
                </a:solidFill>
                <a:latin typeface="Aptos"/>
              </a:rPr>
              <a:t>layout and design utilities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6908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C3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336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73138"/>
                </a:solidFill>
                <a:latin typeface="Aptos"/>
              </a:rPr>
              <a:t>JavaScript / TypeScript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72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F6E74"/>
                </a:solidFill>
                <a:latin typeface="Aptos"/>
              </a:rPr>
              <a:t>algorithm and DOM interaction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406908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C3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42336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73138"/>
                </a:solidFill>
                <a:latin typeface="Aptos"/>
              </a:rPr>
              <a:t>GitHub + Cloudflare Pages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572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F6E74"/>
                </a:solidFill>
                <a:latin typeface="Aptos"/>
              </a:rPr>
              <a:t>version control and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E74"/>
                </a:solidFill>
                <a:latin typeface="Aptos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73138"/>
                </a:solidFill>
                <a:latin typeface="Aptos"/>
              </a:rPr>
              <a:t>Code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F6E74"/>
                </a:solidFill>
                <a:latin typeface="Aptos"/>
              </a:rPr>
              <a:t>The algorithm is separated from the interface.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73138"/>
                </a:solidFill>
                <a:latin typeface="Aptos"/>
              </a:rPr>
              <a:t>src/lib/pathfinding.ts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73138"/>
                </a:solidFill>
                <a:latin typeface="Aptos"/>
              </a:defRPr>
            </a:pPr>
            <a:r>
              <a:t>Pure pathfinding logic</a:t>
            </a:r>
          </a:p>
          <a:p>
            <a:pPr>
              <a:spcAft>
                <a:spcPts val="800"/>
              </a:spcAft>
              <a:defRPr sz="1900">
                <a:solidFill>
                  <a:srgbClr val="273138"/>
                </a:solidFill>
                <a:latin typeface="Aptos"/>
              </a:defRPr>
            </a:pPr>
            <a:r>
              <a:t>Valid map generation</a:t>
            </a:r>
          </a:p>
          <a:p>
            <a:pPr>
              <a:spcAft>
                <a:spcPts val="800"/>
              </a:spcAft>
              <a:defRPr sz="1900">
                <a:solidFill>
                  <a:srgbClr val="273138"/>
                </a:solidFill>
                <a:latin typeface="Aptos"/>
              </a:defRPr>
            </a:pPr>
            <a:r>
              <a:t>A* route 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5087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73138"/>
                </a:solidFill>
                <a:latin typeface="Aptos"/>
              </a:rPr>
              <a:t>src/components/AGVPathfinder.astro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0574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73138"/>
                </a:solidFill>
                <a:latin typeface="Aptos"/>
              </a:defRPr>
            </a:pPr>
            <a:r>
              <a:t>Grid rendering</a:t>
            </a:r>
          </a:p>
          <a:p>
            <a:pPr>
              <a:spcAft>
                <a:spcPts val="800"/>
              </a:spcAft>
              <a:defRPr sz="1900">
                <a:solidFill>
                  <a:srgbClr val="273138"/>
                </a:solidFill>
                <a:latin typeface="Aptos"/>
              </a:defRPr>
            </a:pPr>
            <a:r>
              <a:t>Button events</a:t>
            </a:r>
          </a:p>
          <a:p>
            <a:pPr>
              <a:spcAft>
                <a:spcPts val="800"/>
              </a:spcAft>
              <a:defRPr sz="1900">
                <a:solidFill>
                  <a:srgbClr val="273138"/>
                </a:solidFill>
                <a:latin typeface="Aptos"/>
              </a:defRPr>
            </a:pPr>
            <a:r>
              <a:t>Animation and DOM updates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5074920"/>
            <a:ext cx="9601200" cy="548640"/>
          </a:xfrm>
          <a:prstGeom prst="roundRect">
            <a:avLst/>
          </a:prstGeom>
          <a:solidFill>
            <a:srgbClr val="DACBB8"/>
          </a:solidFill>
          <a:ln>
            <a:solidFill>
              <a:srgbClr val="DA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73138"/>
                </a:solidFill>
                <a:latin typeface="Aptos"/>
              </a:rPr>
              <a:t>This separation makes the code easier to explain during presentation.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E74"/>
                </a:solidFill>
                <a:latin typeface="Aptos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73138"/>
                </a:solidFill>
                <a:latin typeface="Aptos"/>
              </a:rPr>
              <a:t>What the project demonstrates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8595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73138"/>
                </a:solidFill>
                <a:latin typeface="Aptos"/>
              </a:defRPr>
            </a:pPr>
            <a:r>
              <a:t>A useful connection between programming and industrial robotics.</a:t>
            </a:r>
          </a:p>
          <a:p>
            <a:pPr>
              <a:spcAft>
                <a:spcPts val="800"/>
              </a:spcAft>
              <a:defRPr sz="2200">
                <a:solidFill>
                  <a:srgbClr val="273138"/>
                </a:solidFill>
                <a:latin typeface="Aptos"/>
              </a:defRPr>
            </a:pPr>
            <a:r>
              <a:t>An algorithm with a visible result, not hidden theory.</a:t>
            </a:r>
          </a:p>
          <a:p>
            <a:pPr>
              <a:spcAft>
                <a:spcPts val="800"/>
              </a:spcAft>
              <a:defRPr sz="2200">
                <a:solidFill>
                  <a:srgbClr val="273138"/>
                </a:solidFill>
                <a:latin typeface="Aptos"/>
              </a:defRPr>
            </a:pPr>
            <a:r>
              <a:t>Good code organization through components and separated logic.</a:t>
            </a:r>
          </a:p>
          <a:p>
            <a:pPr>
              <a:spcAft>
                <a:spcPts val="800"/>
              </a:spcAft>
              <a:defRPr sz="2200">
                <a:solidFill>
                  <a:srgbClr val="273138"/>
                </a:solidFill>
                <a:latin typeface="Aptos"/>
              </a:defRPr>
            </a:pPr>
            <a:r>
              <a:t>A deployed website that can be accessed by anyone.</a:t>
            </a:r>
          </a:p>
          <a:p>
            <a:pPr>
              <a:spcAft>
                <a:spcPts val="800"/>
              </a:spcAft>
              <a:defRPr sz="2200">
                <a:solidFill>
                  <a:srgbClr val="273138"/>
                </a:solidFill>
                <a:latin typeface="Aptos"/>
              </a:defRPr>
            </a:pPr>
            <a:r>
              <a:t>A final report available directly from the 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E74"/>
                </a:solidFill>
                <a:latin typeface="Aptos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73138"/>
                </a:solidFill>
                <a:latin typeface="Aptos"/>
              </a:rPr>
              <a:t>Conclusion and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73138"/>
                </a:solidFill>
                <a:latin typeface="Aptos"/>
              </a:rPr>
              <a:t>RoboFlux turns programming concepts into a practical automation simulation.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73138"/>
                </a:solidFill>
                <a:latin typeface="Aptos"/>
              </a:defRPr>
            </a:pPr>
            <a:r>
              <a:t>Website: https://roboflux-robotica.pages.dev/</a:t>
            </a:r>
          </a:p>
          <a:p>
            <a:pPr>
              <a:spcAft>
                <a:spcPts val="800"/>
              </a:spcAft>
              <a:defRPr sz="2000">
                <a:solidFill>
                  <a:srgbClr val="273138"/>
                </a:solidFill>
                <a:latin typeface="Aptos"/>
              </a:defRPr>
            </a:pPr>
            <a:r>
              <a:t>Report: https://roboflux-robotica.pages.dev/relatorio.pdf</a:t>
            </a:r>
          </a:p>
          <a:p>
            <a:pPr>
              <a:spcAft>
                <a:spcPts val="800"/>
              </a:spcAft>
              <a:defRPr sz="2000">
                <a:solidFill>
                  <a:srgbClr val="273138"/>
                </a:solidFill>
                <a:latin typeface="Aptos"/>
              </a:defRPr>
            </a:pPr>
            <a:r>
              <a:t>GitHub: https://github.com/JojoDeveloper01/roboflux-robotica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5166360"/>
            <a:ext cx="7315200" cy="594360"/>
          </a:xfrm>
          <a:prstGeom prst="roundRect">
            <a:avLst/>
          </a:prstGeom>
          <a:solidFill>
            <a:srgbClr val="B8C398"/>
          </a:solidFill>
          <a:ln>
            <a:solidFill>
              <a:srgbClr val="B8C3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73138"/>
                </a:solidFill>
                <a:latin typeface="Aptos"/>
              </a:rPr>
              <a:t>Call to action: visit the page and run the AGV simulation.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E74"/>
                </a:solidFill>
                <a:latin typeface="Aptos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