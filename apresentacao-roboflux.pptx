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C398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F6E74"/>
                </a:solidFill>
                <a:latin typeface="Aptos"/>
              </a:rPr>
              <a:t>RoboFlux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273138"/>
                </a:solidFill>
                <a:latin typeface="Aptos"/>
              </a:rPr>
              <a:t>Planeamento reativo de rota para um AGV industrial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1635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5F6E74"/>
                </a:solidFill>
                <a:latin typeface="Aptos"/>
              </a:rPr>
              <a:t>Projeto web sobre Robótica e Automação Industrial com algoritmo A*.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86200"/>
            <a:ext cx="3749039" cy="502920"/>
          </a:xfrm>
          <a:prstGeom prst="roundRect">
            <a:avLst/>
          </a:prstGeom>
          <a:solidFill>
            <a:srgbClr val="DACBB8"/>
          </a:solidFill>
          <a:ln>
            <a:solidFill>
              <a:srgbClr val="DA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3138"/>
                </a:solidFill>
                <a:latin typeface="Aptos"/>
              </a:rPr>
              <a:t>Robótica · Automação · Algoritmos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https://roboflux-robotica.pages.dev/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Objetivo do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51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E74"/>
                </a:solidFill>
                <a:latin typeface="Aptos"/>
              </a:rPr>
              <a:t>Resolver um problema simples, mas realista, da automação industrial.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84124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Criar uma aplicação web interativa ligada à área do curso.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Aplicar HTML, CSS e JavaScript de forma prática.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Usar variáveis, condicionais, ciclos, funções e manipulação do DOM.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Simular como um AGV calcula uma rota segura dentro de uma fábrica.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Explicar a lógica do algoritmo, não apenas mostrar uma página bonita.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532120"/>
            <a:ext cx="6766560" cy="502920"/>
          </a:xfrm>
          <a:prstGeom prst="roundRect">
            <a:avLst/>
          </a:prstGeom>
          <a:solidFill>
            <a:srgbClr val="B8C398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3138"/>
                </a:solidFill>
                <a:latin typeface="Aptos"/>
              </a:rPr>
              <a:t>Ideia principal: programação aplicada a um processo industrial.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Ligação à Robótica e Automação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51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E74"/>
                </a:solidFill>
                <a:latin typeface="Aptos"/>
              </a:rPr>
              <a:t>Numa fábrica, o ambiente muda. Um robô tem de reagir.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7040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O AGV pode encontrar máquinas, paletes, pessoas ou zonas bloqueadas.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O caminho nem sempre deve ser fixo ou decorado.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A grelha 10x10 representa uma versão simplificada do chão da fábrica.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Quando o mapa muda, o algoritmo volta a calcular uma rota possível.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737360"/>
            <a:ext cx="347472" cy="347472"/>
          </a:xfrm>
          <a:prstGeom prst="roundRect">
            <a:avLst/>
          </a:prstGeom>
          <a:solidFill>
            <a:srgbClr val="5F6E74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68512" y="1737360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07424" y="1737360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46336" y="1737360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85248" y="1737360"/>
            <a:ext cx="347472" cy="347472"/>
          </a:xfrm>
          <a:prstGeom prst="roundRect">
            <a:avLst/>
          </a:prstGeom>
          <a:solidFill>
            <a:srgbClr val="5F6E74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24160" y="1737360"/>
            <a:ext cx="347472" cy="347472"/>
          </a:xfrm>
          <a:prstGeom prst="roundRect">
            <a:avLst/>
          </a:prstGeom>
          <a:solidFill>
            <a:srgbClr val="DACBB8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2176272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68512" y="2176272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07424" y="2176272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46336" y="2176272"/>
            <a:ext cx="347472" cy="347472"/>
          </a:xfrm>
          <a:prstGeom prst="roundRect">
            <a:avLst/>
          </a:prstGeom>
          <a:solidFill>
            <a:srgbClr val="5F6E74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85248" y="2176272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424160" y="2176272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2615184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68512" y="2615184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07424" y="2615184"/>
            <a:ext cx="347472" cy="347472"/>
          </a:xfrm>
          <a:prstGeom prst="roundRect">
            <a:avLst/>
          </a:prstGeom>
          <a:solidFill>
            <a:srgbClr val="5F6E74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46336" y="2615184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85248" y="2615184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424160" y="2615184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054096"/>
            <a:ext cx="347472" cy="347472"/>
          </a:xfrm>
          <a:prstGeom prst="roundRect">
            <a:avLst/>
          </a:prstGeom>
          <a:solidFill>
            <a:srgbClr val="B8C398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8512" y="3054096"/>
            <a:ext cx="347472" cy="347472"/>
          </a:xfrm>
          <a:prstGeom prst="roundRect">
            <a:avLst/>
          </a:prstGeom>
          <a:solidFill>
            <a:srgbClr val="5F6E74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07424" y="3054096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46336" y="3054096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85248" y="3054096"/>
            <a:ext cx="34747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24160" y="3054096"/>
            <a:ext cx="347472" cy="347472"/>
          </a:xfrm>
          <a:prstGeom prst="roundRect">
            <a:avLst/>
          </a:prstGeom>
          <a:solidFill>
            <a:srgbClr val="5F6E74"/>
          </a:solidFill>
          <a:ln>
            <a:solidFill>
              <a:srgbClr val="F6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840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F6E74"/>
                </a:solidFill>
                <a:latin typeface="Aptos"/>
              </a:rPr>
              <a:t>Grelha simplificada do AGV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Como funciona na página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79552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O utilizador abre o site RoboFlux.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A secção principal mostra uma grelha com início, destino e obstáculos.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O botão “Gerar novo mapa” cria um problema diferente.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O botão “Executar algoritmo” mostra o A* a analisar células.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No fim, a rota encontrada aparece destacada no mapa.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5532120"/>
            <a:ext cx="6766560" cy="502920"/>
          </a:xfrm>
          <a:prstGeom prst="roundRect">
            <a:avLst/>
          </a:prstGeom>
          <a:solidFill>
            <a:srgbClr val="DACBB8"/>
          </a:solidFill>
          <a:ln>
            <a:solidFill>
              <a:srgbClr val="DA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3138"/>
                </a:solidFill>
                <a:latin typeface="Aptos"/>
              </a:rPr>
              <a:t>A página é interativa: o utilizador vê o algoritmo a trabalhar.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O algoritmo A*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51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E74"/>
                </a:solidFill>
                <a:latin typeface="Aptos"/>
              </a:rPr>
              <a:t>O A* encontra caminhos juntando custo real e estimativa.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273138"/>
                </a:solidFill>
                <a:latin typeface="Aptos"/>
              </a:rPr>
              <a:t>f = g +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6126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g = custo real já percorrido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h = estimativa da distância até ao destino</a:t>
            </a:r>
          </a:p>
          <a:p>
            <a:pPr>
              <a:spcAft>
                <a:spcPts val="800"/>
              </a:spcAft>
              <a:defRPr sz="2100">
                <a:solidFill>
                  <a:srgbClr val="273138"/>
                </a:solidFill>
                <a:latin typeface="Aptos"/>
              </a:defRPr>
            </a:pPr>
            <a:r>
              <a:t>f = prioridade usada para escolher a próxima célula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6916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F6E74"/>
                </a:solidFill>
                <a:latin typeface="Aptos"/>
              </a:rPr>
              <a:t>Explicação simples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148840"/>
            <a:ext cx="3657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O AGV olha para as células à volta.</a:t>
            </a:r>
          </a:p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Evita as células bloqueadas.</a:t>
            </a:r>
          </a:p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Escolhe a opção mais promissora.</a:t>
            </a:r>
          </a:p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Repete até chegar ao destino.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Mapa aleatório, mas controlado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51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E74"/>
                </a:solidFill>
                <a:latin typeface="Aptos"/>
              </a:rPr>
              <a:t>Aleatório não significa sem regras.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7772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O sistema gera obstáculos aleatórios.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Antes de mostrar o mapa, confirma se ainda existe caminho.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Se o mapa for impossível, tenta gerar outro.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Assim a simulação fica dinâmica, mas continua útil e explicável.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074920"/>
            <a:ext cx="6217920" cy="502920"/>
          </a:xfrm>
          <a:prstGeom prst="roundRect">
            <a:avLst/>
          </a:prstGeom>
          <a:solidFill>
            <a:srgbClr val="B8C398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3138"/>
                </a:solidFill>
                <a:latin typeface="Aptos"/>
              </a:rPr>
              <a:t>Dinâmico + válido = melhor experiência de aprendizagem.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Tecnologias utilizadas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3138"/>
                </a:solidFill>
                <a:latin typeface="Aptos"/>
              </a:rPr>
              <a:t>Astro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organização por componentes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79" y="141732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79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3138"/>
                </a:solidFill>
                <a:latin typeface="Aptos"/>
              </a:rPr>
              <a:t>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79" y="1920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estrutura da página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3138"/>
                </a:solidFill>
                <a:latin typeface="Aptos"/>
              </a:rPr>
              <a:t>CSS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estilos e estados visuais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79" y="274320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29077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3138"/>
                </a:solidFill>
                <a:latin typeface="Aptos"/>
              </a:rPr>
              <a:t>Tailwind CSS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246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layout, espaçamentos e responsividade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6908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336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3138"/>
                </a:solidFill>
                <a:latin typeface="Aptos"/>
              </a:rPr>
              <a:t>JavaScript / TypeScript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72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algoritmo e interação com o DOM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79" y="4069080"/>
            <a:ext cx="5029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2336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3138"/>
                </a:solidFill>
                <a:latin typeface="Aptos"/>
              </a:rPr>
              <a:t>GitHub + Cloudflare 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4572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E74"/>
                </a:solidFill>
                <a:latin typeface="Aptos"/>
              </a:rPr>
              <a:t>controlo de versões e publicação automática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Organização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51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E74"/>
                </a:solidFill>
                <a:latin typeface="Aptos"/>
              </a:rPr>
              <a:t>A lógica do algoritmo está separada da interface.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3138"/>
                </a:solidFill>
                <a:latin typeface="Aptos"/>
              </a:rPr>
              <a:t>src/lib/pathfinding.ts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4389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73138"/>
                </a:solidFill>
                <a:latin typeface="Aptos"/>
              </a:defRPr>
            </a:pPr>
            <a:r>
              <a:t>Lógica pura do algoritmo</a:t>
            </a:r>
          </a:p>
          <a:p>
            <a:pPr>
              <a:spcAft>
                <a:spcPts val="800"/>
              </a:spcAft>
              <a:defRPr sz="1900">
                <a:solidFill>
                  <a:srgbClr val="273138"/>
                </a:solidFill>
                <a:latin typeface="Aptos"/>
              </a:defRPr>
            </a:pPr>
            <a:r>
              <a:t>Geração de mapas válidos</a:t>
            </a:r>
          </a:p>
          <a:p>
            <a:pPr>
              <a:spcAft>
                <a:spcPts val="800"/>
              </a:spcAft>
              <a:defRPr sz="1900">
                <a:solidFill>
                  <a:srgbClr val="273138"/>
                </a:solidFill>
                <a:latin typeface="Aptos"/>
              </a:defRPr>
            </a:pPr>
            <a:r>
              <a:t>Cálculo da rota com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3138"/>
                </a:solidFill>
                <a:latin typeface="Aptos"/>
              </a:rPr>
              <a:t>src/components/AGVPathfinder.astro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057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73138"/>
                </a:solidFill>
                <a:latin typeface="Aptos"/>
              </a:defRPr>
            </a:pPr>
            <a:r>
              <a:t>Desenho da grelha</a:t>
            </a:r>
          </a:p>
          <a:p>
            <a:pPr>
              <a:spcAft>
                <a:spcPts val="800"/>
              </a:spcAft>
              <a:defRPr sz="1900">
                <a:solidFill>
                  <a:srgbClr val="273138"/>
                </a:solidFill>
                <a:latin typeface="Aptos"/>
              </a:defRPr>
            </a:pPr>
            <a:r>
              <a:t>Eventos dos botões</a:t>
            </a:r>
          </a:p>
          <a:p>
            <a:pPr>
              <a:spcAft>
                <a:spcPts val="800"/>
              </a:spcAft>
              <a:defRPr sz="1900">
                <a:solidFill>
                  <a:srgbClr val="273138"/>
                </a:solidFill>
                <a:latin typeface="Aptos"/>
              </a:defRPr>
            </a:pPr>
            <a:r>
              <a:t>Animação e atualização do DOM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5074920"/>
            <a:ext cx="7863840" cy="548640"/>
          </a:xfrm>
          <a:prstGeom prst="roundRect">
            <a:avLst/>
          </a:prstGeom>
          <a:solidFill>
            <a:srgbClr val="DACBB8"/>
          </a:solidFill>
          <a:ln>
            <a:solidFill>
              <a:srgbClr val="DA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3138"/>
                </a:solidFill>
                <a:latin typeface="Aptos"/>
              </a:rPr>
              <a:t>Separar responsabilidades torna o código mais fácil de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O que o projeto demonstra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8595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Programação aplicada a um contexto real de robótica.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Um algoritmo visível, com resultado no ecrã.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Uso prático de HTML, CSS e JavaScript.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Componentes reutilizáveis em Astro.</a:t>
            </a:r>
          </a:p>
          <a:p>
            <a:pPr>
              <a:spcAft>
                <a:spcPts val="800"/>
              </a:spcAft>
              <a:defRPr sz="2200">
                <a:solidFill>
                  <a:srgbClr val="273138"/>
                </a:solidFill>
                <a:latin typeface="Aptos"/>
              </a:defRPr>
            </a:pPr>
            <a:r>
              <a:t>Publicação online com GitHub e Cloudflare Pages.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3138"/>
                </a:solidFill>
                <a:latin typeface="Aptos"/>
              </a:rPr>
              <a:t>Conclusão e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73138"/>
                </a:solidFill>
                <a:latin typeface="Aptos"/>
              </a:rPr>
              <a:t>O RoboFlux transforma conceitos de programação numa simulação prática de automação.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9875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Site: https://roboflux-robotica.pages.dev/</a:t>
            </a:r>
          </a:p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Relatório: https://roboflux-robotica.pages.dev/relatorio.pdf</a:t>
            </a:r>
          </a:p>
          <a:p>
            <a:pPr>
              <a:spcAft>
                <a:spcPts val="800"/>
              </a:spcAft>
              <a:defRPr sz="2000">
                <a:solidFill>
                  <a:srgbClr val="273138"/>
                </a:solidFill>
                <a:latin typeface="Aptos"/>
              </a:defRPr>
            </a:pPr>
            <a:r>
              <a:t>GitHub: https://github.com/JojoDeveloper01/roboflux-robotica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166360"/>
            <a:ext cx="6858000" cy="594360"/>
          </a:xfrm>
          <a:prstGeom prst="roundRect">
            <a:avLst/>
          </a:prstGeom>
          <a:solidFill>
            <a:srgbClr val="B8C398"/>
          </a:solidFill>
          <a:ln>
            <a:solidFill>
              <a:srgbClr val="B8C3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73138"/>
                </a:solidFill>
                <a:latin typeface="Aptos"/>
              </a:rPr>
              <a:t>Chamada: visitar a página e executar a simulação do AGV.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550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F6E74"/>
                </a:solidFill>
                <a:latin typeface="Aptos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